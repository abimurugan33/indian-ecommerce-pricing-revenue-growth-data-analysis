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9"/>
  </p:notesMasterIdLst>
  <p:handoutMasterIdLst>
    <p:handoutMasterId r:id="rId30"/>
  </p:handoutMasterIdLst>
  <p:sldIdLst>
    <p:sldId id="334" r:id="rId5"/>
    <p:sldId id="316" r:id="rId6"/>
    <p:sldId id="351" r:id="rId7"/>
    <p:sldId id="352" r:id="rId8"/>
    <p:sldId id="353" r:id="rId9"/>
    <p:sldId id="354" r:id="rId10"/>
    <p:sldId id="355" r:id="rId11"/>
    <p:sldId id="356" r:id="rId12"/>
    <p:sldId id="324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6" r:id="rId23"/>
    <p:sldId id="367" r:id="rId24"/>
    <p:sldId id="368" r:id="rId25"/>
    <p:sldId id="369" r:id="rId26"/>
    <p:sldId id="372" r:id="rId27"/>
    <p:sldId id="34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F4F95-4B69-65E8-7B3C-479EC404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1A524-D355-EC47-DCFB-D2127954E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ED178-3F47-777F-930C-499ED34F2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708B4-4B5F-7210-A732-D547825B8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56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BCD91-7D4F-D5E9-6C98-44B109C7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2164F-29E0-0B30-91DE-A933B0BBB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60B8E-9281-7C4C-14BC-202AE193B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DD2DB-9906-EE5F-8231-F987067C0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808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05634-1185-7115-8A7F-BFB06D23A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FCA68-AB97-4658-02C2-EE582A16D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A8111-98E2-C48B-14C8-BF23004C7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6FB72-1254-7BAE-00B4-AFCAD89A5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760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0AEC-86BC-31F8-8D3D-E827F59B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9E1B1-2C96-9078-F211-279548CBA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61851-8B5E-E83D-7EDA-5533054C7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1DD48-6FDC-8C50-6A98-4DC619277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18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A35B-7884-32A8-B941-42389804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D1F5B-6FF8-C453-B26C-81FB81652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B47B7-1518-E86E-9852-1DD6D3F80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677AD-9C9B-26E9-F3D1-8D9C73C77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797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D5B80-063D-D749-5C97-4E7E73CE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F838A-F92F-E97D-9064-4160DBBE7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08797-388E-4B68-9D08-97B9CA042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97710-25BF-D15B-9135-4038EE8F6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836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B1163-A1C7-D07F-42A4-84D0DFA3B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D9087-E135-4A12-8197-AB7746F07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4922F-3D69-DBF1-651B-56AFE5685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DB702-A15A-A4BC-2C12-90C54B1D6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967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B7D33-E3EC-62D0-BBDA-3AB5A28F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94FD1-536A-6760-7169-2645F5B1C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E888E-A69D-B964-2DAF-96D7DFA36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AE93D-CB3F-C0B3-49F7-612287FC0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714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B8FB3-EC61-C2E2-A0F7-637DFC214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6442D-983C-5EA5-0CC2-3569718D2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EBF93-2F00-5DB0-5336-C2A571FC7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31429-A96B-920A-9B33-2C308C72F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8414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29FD4-9763-4E88-0A13-A610ECA0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104F5-2730-3006-1920-2CCA315BE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098D7-2DA8-5A98-A9C1-329B10E0C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0918D-92C1-066B-B41F-836841E4A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815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596B-A236-9CBB-E2B9-F84A270A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F9E82-48C3-C28A-ABC9-038A987BC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4FC42-BC12-9F97-41FB-F4F9EA93C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1434E-AC14-70A0-54A0-3BFDE5B77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765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CBFD-ED13-775D-9516-B21FED55C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21043-1C0E-583F-C56A-C50286AAE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73654-B288-9C7F-8E9E-8BD94D0D2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9321F-5210-B927-48CF-B212B52B7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985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B5E37-FE93-49BA-F575-068BE63A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8F1AD-DD9A-61DB-DBB5-0C8EC0EA0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5FC79-1EB0-3143-A0E2-31BAAFBFF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EB41D-1609-0B72-B30A-C613613D7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624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975DE-DB40-C947-FB9D-694DEB469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687B9-E19A-F42E-C72C-A58AA99C1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9D269-EF06-8DE7-3DF8-75F5C351D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EE333-7EDB-3AE8-70CF-25B206EB4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3644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3C137-6E80-6C1D-FA94-ECC22EB02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73034-5111-EEB9-D403-1E18D42BA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D25F9-27D8-5CEB-AAD1-5AE359EF1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0E62-31BB-1091-B75E-8D784E0FB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192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7DFEE-E888-0D14-AE11-D3FAEE04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72029C-9DA5-D6C8-4D8C-38B8AD27D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72A21-1BA2-811C-013D-6E7FE6188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A7E86-4466-0792-E124-3BF4D13A6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9540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42293-5EF7-B959-7280-D3DB9C4CE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B94B-7979-092F-326F-D2E4BC09A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4BAB2-FCDD-9B70-FC61-A5B95A3D9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655D0-3EDD-A211-013D-237AEBDA8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3475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B3AB-19BE-F2C0-B985-2D47C7E43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482FB-29AE-F479-3237-1A9BAC380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024D0-CF5D-C5DA-799C-07B1F99DB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570AB-4C94-237E-FA8B-9119B3792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259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3E19A-1400-1DA4-C03D-71356332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ECB057-7FF8-228E-AA39-547DDA230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E499D-B92B-73F2-71C3-805F27AE3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E03E6-3605-B63B-0688-FE6E6FF55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305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C0D54-FC2E-9323-FA72-C275790DF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DEF65-A945-F5C8-8862-7FBB37123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DB81B-ECE1-D462-94B3-5014D7796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BD002-A868-0B2D-98C7-E854BD8D5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8895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820" y="348665"/>
            <a:ext cx="7983110" cy="3080335"/>
          </a:xfrm>
        </p:spPr>
        <p:txBody>
          <a:bodyPr/>
          <a:lstStyle/>
          <a:p>
            <a:r>
              <a:rPr lang="en-US" sz="4000" dirty="0"/>
              <a:t>Indian Ecommerce Pricing Revenue Growth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76" y="326572"/>
            <a:ext cx="4133461" cy="93163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47C81-F729-D1A8-6992-AD4A32F50CFD}"/>
              </a:ext>
            </a:extLst>
          </p:cNvPr>
          <p:cNvSpPr txBox="1"/>
          <p:nvPr/>
        </p:nvSpPr>
        <p:spPr>
          <a:xfrm>
            <a:off x="1212980" y="1480707"/>
            <a:ext cx="9955763" cy="419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focuses on analyzing Ecommerce pricing revenue sales data to understand revenue performance, customer purchasing behavior, discount impact, competition intensity, and seasonal trends.</a:t>
            </a:r>
          </a:p>
          <a:p>
            <a:endParaRPr lang="en-US" dirty="0"/>
          </a:p>
          <a:p>
            <a:r>
              <a:rPr lang="en-US" dirty="0"/>
              <a:t>Using </a:t>
            </a:r>
            <a:r>
              <a:rPr lang="en-US" b="1" dirty="0"/>
              <a:t>Python (Pandas, Matplotlib, Seaborn)</a:t>
            </a:r>
            <a:r>
              <a:rPr lang="en-US" dirty="0"/>
              <a:t>, various visualizations like bar charts, line plots, heatmaps, and pie charts were created to explore patterns and trends in the dataset.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Objectives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Explore dataset structure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Performing cleaning and Pre-processing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Generate insights from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Visualize important trend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75C5C-D97E-6B79-534C-D4788722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5A8D-AFEE-4EEB-185A-472DB373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118" y="326569"/>
            <a:ext cx="6671388" cy="931630"/>
          </a:xfrm>
        </p:spPr>
        <p:txBody>
          <a:bodyPr/>
          <a:lstStyle/>
          <a:p>
            <a:pPr algn="l"/>
            <a:r>
              <a:rPr lang="en-US" dirty="0"/>
              <a:t>Dataset Description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9EFBC4-7105-A290-29EE-2713E7B52A47}"/>
              </a:ext>
            </a:extLst>
          </p:cNvPr>
          <p:cNvSpPr txBox="1"/>
          <p:nvPr/>
        </p:nvSpPr>
        <p:spPr>
          <a:xfrm>
            <a:off x="1212980" y="1480707"/>
            <a:ext cx="9955763" cy="4337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dataset contains </a:t>
            </a:r>
            <a:r>
              <a:rPr lang="en-US" dirty="0"/>
              <a:t>Ecommerce pricing revenue</a:t>
            </a:r>
            <a:r>
              <a:rPr lang="en-IN" dirty="0"/>
              <a:t> sales data across different </a:t>
            </a:r>
            <a:r>
              <a:rPr lang="en-IN" b="1" dirty="0"/>
              <a:t>states, zones, categories, and time periods</a:t>
            </a:r>
            <a:r>
              <a:rPr lang="en-IN" dirty="0"/>
              <a:t>. It includes sales performance, discounts, competition levels, and customer segmentation details.</a:t>
            </a:r>
          </a:p>
          <a:p>
            <a:endParaRPr lang="en-IN" dirty="0"/>
          </a:p>
          <a:p>
            <a:r>
              <a:rPr lang="en-IN" b="1" dirty="0"/>
              <a:t>Main Columns:</a:t>
            </a:r>
          </a:p>
          <a:p>
            <a:pPr>
              <a:lnSpc>
                <a:spcPct val="150000"/>
              </a:lnSpc>
            </a:pPr>
            <a:r>
              <a:rPr lang="en-IN" dirty="0"/>
              <a:t>State &amp; Zone – Regional sales information</a:t>
            </a:r>
          </a:p>
          <a:p>
            <a:pPr>
              <a:lnSpc>
                <a:spcPct val="150000"/>
              </a:lnSpc>
            </a:pPr>
            <a:r>
              <a:rPr lang="en-IN" dirty="0"/>
              <a:t>Category &amp; Brand Type – Product classification</a:t>
            </a:r>
          </a:p>
          <a:p>
            <a:pPr>
              <a:lnSpc>
                <a:spcPct val="150000"/>
              </a:lnSpc>
            </a:pPr>
            <a:r>
              <a:rPr lang="en-IN" dirty="0"/>
              <a:t>Units Sold &amp; Revenue – Sales performance metrics</a:t>
            </a:r>
          </a:p>
          <a:p>
            <a:pPr>
              <a:lnSpc>
                <a:spcPct val="150000"/>
              </a:lnSpc>
            </a:pPr>
            <a:r>
              <a:rPr lang="en-IN" dirty="0"/>
              <a:t>Discount – Promotional impact</a:t>
            </a:r>
          </a:p>
          <a:p>
            <a:pPr>
              <a:lnSpc>
                <a:spcPct val="150000"/>
              </a:lnSpc>
            </a:pPr>
            <a:r>
              <a:rPr lang="en-IN" dirty="0"/>
              <a:t>Year, Quarter, Month – Time-based analysis</a:t>
            </a:r>
          </a:p>
          <a:p>
            <a:pPr>
              <a:lnSpc>
                <a:spcPct val="150000"/>
              </a:lnSpc>
            </a:pPr>
            <a:r>
              <a:rPr lang="en-IN" dirty="0"/>
              <a:t>Competition Intensity &amp; Inventory Pressure – Market factors</a:t>
            </a:r>
          </a:p>
          <a:p>
            <a:pPr>
              <a:lnSpc>
                <a:spcPct val="150000"/>
              </a:lnSpc>
            </a:pPr>
            <a:r>
              <a:rPr lang="en-IN" dirty="0"/>
              <a:t>Customer Gender – Customer segmentation</a:t>
            </a:r>
          </a:p>
        </p:txBody>
      </p:sp>
    </p:spTree>
    <p:extLst>
      <p:ext uri="{BB962C8B-B14F-4D97-AF65-F5344CB8AC3E}">
        <p14:creationId xmlns:p14="http://schemas.microsoft.com/office/powerpoint/2010/main" val="2951962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C9D7F-B565-6B82-3F7A-B3FCE647C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F3859-6755-80B6-832F-29684E758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118" y="326569"/>
            <a:ext cx="6671388" cy="931630"/>
          </a:xfrm>
        </p:spPr>
        <p:txBody>
          <a:bodyPr/>
          <a:lstStyle/>
          <a:p>
            <a:pPr algn="l"/>
            <a:r>
              <a:rPr lang="en-US" dirty="0"/>
              <a:t>Dataset Cleaning: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7CE56-BA93-5A58-C1CE-B7DFB5F686DC}"/>
              </a:ext>
            </a:extLst>
          </p:cNvPr>
          <p:cNvSpPr txBox="1"/>
          <p:nvPr/>
        </p:nvSpPr>
        <p:spPr>
          <a:xfrm>
            <a:off x="1222311" y="1480707"/>
            <a:ext cx="9955763" cy="875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For data cleaning process, we used different techniques based on our scenario which are</a:t>
            </a:r>
          </a:p>
          <a:p>
            <a:pPr>
              <a:lnSpc>
                <a:spcPct val="150000"/>
              </a:lnSpc>
            </a:pPr>
            <a:r>
              <a:rPr lang="en-IN" dirty="0"/>
              <a:t>Explained in-depth as follows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0A245C-7E17-A39E-C91D-ABF412CC1523}"/>
              </a:ext>
            </a:extLst>
          </p:cNvPr>
          <p:cNvSpPr txBox="1"/>
          <p:nvPr/>
        </p:nvSpPr>
        <p:spPr>
          <a:xfrm>
            <a:off x="1324947" y="2715208"/>
            <a:ext cx="6204857" cy="156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Details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Checking for null values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Check for duplicates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Standardize the data</a:t>
            </a:r>
          </a:p>
        </p:txBody>
      </p:sp>
    </p:spTree>
    <p:extLst>
      <p:ext uri="{BB962C8B-B14F-4D97-AF65-F5344CB8AC3E}">
        <p14:creationId xmlns:p14="http://schemas.microsoft.com/office/powerpoint/2010/main" val="2637408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AEF9-893F-9DBE-C04A-14D490D6E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4BE9-3120-73A8-443C-810326577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118" y="541175"/>
            <a:ext cx="6671388" cy="717023"/>
          </a:xfrm>
        </p:spPr>
        <p:txBody>
          <a:bodyPr/>
          <a:lstStyle/>
          <a:p>
            <a:pPr algn="l"/>
            <a:r>
              <a:rPr lang="en-US" sz="2800" dirty="0"/>
              <a:t>1.Checking for null values: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BA420-2141-1F9E-CA25-898365276CFD}"/>
              </a:ext>
            </a:extLst>
          </p:cNvPr>
          <p:cNvSpPr txBox="1"/>
          <p:nvPr/>
        </p:nvSpPr>
        <p:spPr>
          <a:xfrm>
            <a:off x="1623526" y="5328364"/>
            <a:ext cx="620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there is no null value is found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40BF1-D721-3AA5-E730-3EBBD67F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809" y="1506441"/>
            <a:ext cx="3065443" cy="3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56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A27D0-9AC7-3532-0572-0A561B62C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40416-0B8E-5147-4385-EC185361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117" y="541175"/>
            <a:ext cx="7091265" cy="717023"/>
          </a:xfrm>
        </p:spPr>
        <p:txBody>
          <a:bodyPr/>
          <a:lstStyle/>
          <a:p>
            <a:pPr algn="l"/>
            <a:r>
              <a:rPr lang="en-US" sz="2800" dirty="0"/>
              <a:t>2.</a:t>
            </a:r>
            <a:r>
              <a:rPr lang="en-IN" sz="2800" dirty="0"/>
              <a:t> Checking the duplicate values :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22FD7-E0CF-AB3B-664C-A103BE14D8B8}"/>
              </a:ext>
            </a:extLst>
          </p:cNvPr>
          <p:cNvSpPr txBox="1"/>
          <p:nvPr/>
        </p:nvSpPr>
        <p:spPr>
          <a:xfrm>
            <a:off x="1483567" y="4348650"/>
            <a:ext cx="620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duplicate values are present in the dataset</a:t>
            </a:r>
            <a:r>
              <a:rPr lang="en-US" b="1" dirty="0"/>
              <a:t>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E70427-8C81-CB19-F03C-AA08C874D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567" y="1927263"/>
            <a:ext cx="6487430" cy="186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21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19D7-1FDB-D4FE-2CB8-D4CE666C9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E019-9312-8A82-BC98-A19ADD9E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117" y="541175"/>
            <a:ext cx="7091265" cy="717023"/>
          </a:xfrm>
        </p:spPr>
        <p:txBody>
          <a:bodyPr/>
          <a:lstStyle/>
          <a:p>
            <a:pPr algn="l"/>
            <a:r>
              <a:rPr lang="en-US" sz="2800" dirty="0"/>
              <a:t>3.</a:t>
            </a:r>
            <a:r>
              <a:rPr lang="en-IN" sz="2800" dirty="0"/>
              <a:t> Standardize the data :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E3421-3625-2ADF-5F39-B9F1B005865C}"/>
              </a:ext>
            </a:extLst>
          </p:cNvPr>
          <p:cNvSpPr txBox="1"/>
          <p:nvPr/>
        </p:nvSpPr>
        <p:spPr>
          <a:xfrm>
            <a:off x="1054358" y="4106054"/>
            <a:ext cx="89667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Covert to datetime format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Extract year, month, quarter period and create a new column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Calculate total discount from data and added a new column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Calculate revenue after discount given to customer and added a new column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24D693-73DF-F931-24C7-85F20500A1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5" t="3986" b="4282"/>
          <a:stretch>
            <a:fillRect/>
          </a:stretch>
        </p:blipFill>
        <p:spPr>
          <a:xfrm>
            <a:off x="1054358" y="1592564"/>
            <a:ext cx="5122507" cy="21791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739366-4590-1970-79FE-0BCA5EE1D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952" y="1592564"/>
            <a:ext cx="5203371" cy="217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34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14BB1-2C1F-50E0-A3C5-B737F23AC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A01D2-ED66-2C22-BA32-09951F47D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26572"/>
            <a:ext cx="9395926" cy="931630"/>
          </a:xfrm>
        </p:spPr>
        <p:txBody>
          <a:bodyPr/>
          <a:lstStyle/>
          <a:p>
            <a:pPr algn="l"/>
            <a:r>
              <a:rPr lang="en-US" dirty="0"/>
              <a:t>Exploratory data analysis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D1A0E-7727-E6F8-A75F-AEE18EB21A38}"/>
              </a:ext>
            </a:extLst>
          </p:cNvPr>
          <p:cNvSpPr txBox="1"/>
          <p:nvPr/>
        </p:nvSpPr>
        <p:spPr>
          <a:xfrm>
            <a:off x="1212980" y="1480707"/>
            <a:ext cx="9955763" cy="2952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For the data analysis purpose, I followed the below steps to analyse the data and provide</a:t>
            </a:r>
          </a:p>
          <a:p>
            <a:pPr>
              <a:lnSpc>
                <a:spcPct val="150000"/>
              </a:lnSpc>
            </a:pPr>
            <a:r>
              <a:rPr lang="en-IN" dirty="0"/>
              <a:t>Insights and visualization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Process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Summary statistics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Analysis Visualization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Providing insights</a:t>
            </a:r>
          </a:p>
        </p:txBody>
      </p:sp>
    </p:spTree>
    <p:extLst>
      <p:ext uri="{BB962C8B-B14F-4D97-AF65-F5344CB8AC3E}">
        <p14:creationId xmlns:p14="http://schemas.microsoft.com/office/powerpoint/2010/main" val="1522966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629" y="354562"/>
            <a:ext cx="9137012" cy="939593"/>
          </a:xfrm>
        </p:spPr>
        <p:txBody>
          <a:bodyPr/>
          <a:lstStyle/>
          <a:p>
            <a:r>
              <a:rPr lang="en-US" dirty="0"/>
              <a:t>A. SUMMARY STATISTICS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2837" y="5054393"/>
            <a:ext cx="10569718" cy="136226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helps you to quickly understand the overall distribution of your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They show key measures like mean, median, count, min, max, and standard deviation.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This helps in identifying trends, outliers, and data quality issues before analysis.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46371-96D1-BAD8-F92F-71D0B05BB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091" y="1499429"/>
            <a:ext cx="7889490" cy="321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1118C-4D13-8460-2AB9-0CE0AB0A7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B826-3F31-D9E7-B888-9A964DF80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629" y="354562"/>
            <a:ext cx="9137012" cy="939593"/>
          </a:xfrm>
        </p:spPr>
        <p:txBody>
          <a:bodyPr/>
          <a:lstStyle/>
          <a:p>
            <a:r>
              <a:rPr lang="en-US" dirty="0"/>
              <a:t>b. Analysis visualization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8334B-51FA-3D2C-0562-2EC6405D6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2837" y="4867781"/>
            <a:ext cx="10336453" cy="1362269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Framing the right questions helps us find insights through analysis.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By answering those questions, we can discover meaningful patterns and conclusions from the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AE3162-991B-2BD1-7A6B-0A43D3C62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837" y="1528365"/>
            <a:ext cx="8629453" cy="295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15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BA38D-AC2C-7F8E-188C-38E7C0151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AC44E-DF0F-C767-EE58-6A446260B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628" y="506652"/>
            <a:ext cx="10336452" cy="82762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b1. Calculate the total revenue generated by each state excluding discounts.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3239B1-A98E-AF8C-4D59-0448B26963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827175" y="1483567"/>
            <a:ext cx="5747658" cy="3433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AE382E-AB01-B9C4-8E40-D65F3C12C380}"/>
              </a:ext>
            </a:extLst>
          </p:cNvPr>
          <p:cNvSpPr txBox="1"/>
          <p:nvPr/>
        </p:nvSpPr>
        <p:spPr>
          <a:xfrm>
            <a:off x="1175656" y="5374433"/>
            <a:ext cx="10217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Delhi NCR records the highest revenue, followed closely by Maharashtra and Karnataka.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Chhattisgarh shows the lowest revenue, with Odisha and West Bengal also among the lower-performing states.</a:t>
            </a:r>
          </a:p>
        </p:txBody>
      </p:sp>
    </p:spTree>
    <p:extLst>
      <p:ext uri="{BB962C8B-B14F-4D97-AF65-F5344CB8AC3E}">
        <p14:creationId xmlns:p14="http://schemas.microsoft.com/office/powerpoint/2010/main" val="1148957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87A3D-7A61-C3CE-DFA0-0CDD5DBA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E1253-32DE-319A-7E97-EB35CB7AE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984" y="495123"/>
            <a:ext cx="10336452" cy="5971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b2. Which states have the highest rate of goods sold?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52CA24-AAC5-0AD7-5B41-922F36573C30}"/>
              </a:ext>
            </a:extLst>
          </p:cNvPr>
          <p:cNvSpPr txBox="1"/>
          <p:nvPr/>
        </p:nvSpPr>
        <p:spPr>
          <a:xfrm>
            <a:off x="1175656" y="5374433"/>
            <a:ext cx="10217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Delhi NCR has the highest units sold, followed by Karnataka and Maharashtra.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Chhattisgarh and Uttar Pradesh record the lowest sales among the listed states.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FF76F8-74DE-85D3-DC8F-82ED3A4429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2" r="11247"/>
          <a:stretch>
            <a:fillRect/>
          </a:stretch>
        </p:blipFill>
        <p:spPr>
          <a:xfrm>
            <a:off x="1390260" y="1260034"/>
            <a:ext cx="7856375" cy="377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13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CFE6C-97DC-91F8-B5E5-454C1862B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67CE-F072-28CA-8ECC-D14E1CBF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984" y="495123"/>
            <a:ext cx="10336452" cy="5971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B3. Total discount given to each category per quantity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3D6CA-D8C6-C07E-516B-DE1D338E0F92}"/>
              </a:ext>
            </a:extLst>
          </p:cNvPr>
          <p:cNvSpPr txBox="1"/>
          <p:nvPr/>
        </p:nvSpPr>
        <p:spPr>
          <a:xfrm>
            <a:off x="1175657" y="5243633"/>
            <a:ext cx="105062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Discount distribution is almost evenly spread across all categories, with no major variation.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Beauty &amp; Personal Care has the highest share, while Home &amp; Living has the lowest discount percentage.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65549-708C-30CD-FC29-9979F26E6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15"/>
          <a:stretch>
            <a:fillRect/>
          </a:stretch>
        </p:blipFill>
        <p:spPr>
          <a:xfrm>
            <a:off x="2304661" y="1315617"/>
            <a:ext cx="5850293" cy="363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773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85E0-6079-57A1-0DC8-6BE7586F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1633-E0CC-DD82-D36D-918D2AC1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984" y="495123"/>
            <a:ext cx="10336452" cy="5971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B4. Find the total discount amount given for each category based on quantity sold.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A2B3B-69E3-4A64-C762-E35204ED413C}"/>
              </a:ext>
            </a:extLst>
          </p:cNvPr>
          <p:cNvSpPr txBox="1"/>
          <p:nvPr/>
        </p:nvSpPr>
        <p:spPr>
          <a:xfrm>
            <a:off x="1175657" y="5243633"/>
            <a:ext cx="105062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Categories with higher quantity sold is Beauty &amp; Personal care tend to receive higher overall discounts.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Indicates volume-based discount strategy.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09E364-4E3C-4F23-1C65-70306124EC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2" t="1067" r="5485"/>
          <a:stretch>
            <a:fillRect/>
          </a:stretch>
        </p:blipFill>
        <p:spPr>
          <a:xfrm>
            <a:off x="2286000" y="1324947"/>
            <a:ext cx="7501812" cy="362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65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5957-2C63-F68C-A461-786BB7D2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514D-C993-8500-FD05-2A380E0C9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984" y="495123"/>
            <a:ext cx="10336452" cy="5971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B5. Identify the region with the highest revenue contribution by category.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84468-2158-2256-B615-BAC85F9AB208}"/>
              </a:ext>
            </a:extLst>
          </p:cNvPr>
          <p:cNvSpPr txBox="1"/>
          <p:nvPr/>
        </p:nvSpPr>
        <p:spPr>
          <a:xfrm>
            <a:off x="1184987" y="5187650"/>
            <a:ext cx="105062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South zone generates the highest revenue across most categories, especially in Premium Lifestyle and Electronics.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East and Central zones show comparatively lower revenue, while North performs moderately strong.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7D90D-8770-72AD-BF8E-BD51DF98F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9" t="-523" r="5987" b="-1"/>
          <a:stretch>
            <a:fillRect/>
          </a:stretch>
        </p:blipFill>
        <p:spPr>
          <a:xfrm>
            <a:off x="1829733" y="1166327"/>
            <a:ext cx="8555238" cy="381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13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F8A4-E1F7-7F0A-88E0-B3A9B10F2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9459F-45BD-D877-5D1F-D98ABF1F3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984" y="495123"/>
            <a:ext cx="10336452" cy="5971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B6. Analyze which year generated the highest sales during the sales event period.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AEFEBB-D9E5-4EF4-0ABB-D28A3844EEB5}"/>
              </a:ext>
            </a:extLst>
          </p:cNvPr>
          <p:cNvSpPr txBox="1"/>
          <p:nvPr/>
        </p:nvSpPr>
        <p:spPr>
          <a:xfrm>
            <a:off x="1194318" y="5224972"/>
            <a:ext cx="10506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Sales events significantly contribute to yearly revenue.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2025 shows stronger performance, indicating improved event strategy or higher customer engagement.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55DB0-BA88-DD8B-6053-F8B3462675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4" r="5446"/>
          <a:stretch>
            <a:fillRect/>
          </a:stretch>
        </p:blipFill>
        <p:spPr>
          <a:xfrm>
            <a:off x="2118049" y="1278294"/>
            <a:ext cx="7567127" cy="372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589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D0C32-BD05-4F81-F84F-2EEA4824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0DA1-62FD-985E-0F3B-1CBCB5408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984" y="495123"/>
            <a:ext cx="10336452" cy="5971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B7. Determine which month recorded the highest number of units sold.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37AB0-8945-5534-3A0E-FA32609776A7}"/>
              </a:ext>
            </a:extLst>
          </p:cNvPr>
          <p:cNvSpPr txBox="1"/>
          <p:nvPr/>
        </p:nvSpPr>
        <p:spPr>
          <a:xfrm>
            <a:off x="1231640" y="5439575"/>
            <a:ext cx="10506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Monthly sales fluctuate across the year.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2 and 9 months show peak sales, possibly due to seasonality or promotional campaigns.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86EE0C-9C18-8B36-8497-65B53BD3FE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3" t="1755" r="10894" b="2896"/>
          <a:stretch>
            <a:fillRect/>
          </a:stretch>
        </p:blipFill>
        <p:spPr>
          <a:xfrm>
            <a:off x="1856790" y="1166327"/>
            <a:ext cx="7828386" cy="40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387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F5532-A0E5-F711-35E2-396B29AED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47871-4251-F039-6645-01488E1E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984" y="495123"/>
            <a:ext cx="10336452" cy="5971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B8. How was the competition intensity among categories?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BEC98B-07A9-6A26-A82F-DEC15F8F95E6}"/>
              </a:ext>
            </a:extLst>
          </p:cNvPr>
          <p:cNvSpPr txBox="1"/>
          <p:nvPr/>
        </p:nvSpPr>
        <p:spPr>
          <a:xfrm>
            <a:off x="1259632" y="5262465"/>
            <a:ext cx="105062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Medium competition intensity is highest across all categories, with </a:t>
            </a:r>
            <a:r>
              <a:rPr lang="en-US" b="1" dirty="0"/>
              <a:t>Beauty &amp; Personal Care (1,778)</a:t>
            </a:r>
            <a:r>
              <a:rPr lang="en-US" dirty="0"/>
              <a:t> and </a:t>
            </a:r>
            <a:r>
              <a:rPr lang="en-US" b="1" dirty="0"/>
              <a:t>Grocery Essentials (1,775)</a:t>
            </a:r>
            <a:r>
              <a:rPr lang="en-US" dirty="0"/>
              <a:t> leading.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High competition intensity is lowest overall, especially in </a:t>
            </a:r>
            <a:r>
              <a:rPr lang="en-US" b="1" dirty="0"/>
              <a:t>Footwear (931)</a:t>
            </a:r>
            <a:r>
              <a:rPr lang="en-US" dirty="0"/>
              <a:t> and </a:t>
            </a:r>
            <a:r>
              <a:rPr lang="en-US" b="1" dirty="0"/>
              <a:t>Fashion (951)</a:t>
            </a:r>
            <a:r>
              <a:rPr lang="en-US" dirty="0"/>
              <a:t> compared to other levels.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5E0B0-2EC7-23A6-8100-48C950EEFB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9" t="3551" r="1362" b="3078"/>
          <a:stretch>
            <a:fillRect/>
          </a:stretch>
        </p:blipFill>
        <p:spPr>
          <a:xfrm>
            <a:off x="2118049" y="1296783"/>
            <a:ext cx="7324530" cy="396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19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FB1F7-D31E-100B-C679-DC4F07DE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16441-1FF5-32E2-45A7-71EEB6C90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984" y="495123"/>
            <a:ext cx="10336452" cy="5971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B9. Analyze the competition intensity trend over the years.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73416E-14FD-9B4B-E2AE-2527E2C7E9C2}"/>
              </a:ext>
            </a:extLst>
          </p:cNvPr>
          <p:cNvSpPr txBox="1"/>
          <p:nvPr/>
        </p:nvSpPr>
        <p:spPr>
          <a:xfrm>
            <a:off x="1240971" y="5439575"/>
            <a:ext cx="105062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Medium competition remains the highest across all three years, showing a slight dip in 2024 and a small recovery in 2025.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Low competition slightly increases in 2024 then marginally declines, while High competition shows a minor drop in 2024 followed by a small rise in 2025.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C58F55-ADFB-5DF0-76A4-A90951B9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6" t="1533" r="1902" b="3050"/>
          <a:stretch>
            <a:fillRect/>
          </a:stretch>
        </p:blipFill>
        <p:spPr>
          <a:xfrm>
            <a:off x="2374008" y="1208529"/>
            <a:ext cx="7507110" cy="41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8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2D2AC-6444-73DA-3F2D-49A39135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EE5B-A0AD-DDBD-FBF7-EE45B91CE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53" y="553246"/>
            <a:ext cx="10336452" cy="5971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B10. Evaluate how inventory pressure affected revenue performance.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43D2AF-8575-1129-13BE-00E4FB75D9BC}"/>
              </a:ext>
            </a:extLst>
          </p:cNvPr>
          <p:cNvSpPr txBox="1"/>
          <p:nvPr/>
        </p:nvSpPr>
        <p:spPr>
          <a:xfrm>
            <a:off x="1259631" y="5238691"/>
            <a:ext cx="105062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Sales distribution varies based on inventory pressure levels.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Higher inventory pressure likely pushes higher sales through promotions or discounts.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32F1F-409C-8621-3985-F874E9E550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132" b="5915"/>
          <a:stretch>
            <a:fillRect/>
          </a:stretch>
        </p:blipFill>
        <p:spPr>
          <a:xfrm>
            <a:off x="2831927" y="1266590"/>
            <a:ext cx="4772524" cy="377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691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350D-E35F-41D8-CABD-3F1761F71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9E39-1A6A-AF13-1520-360F2126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53" y="553246"/>
            <a:ext cx="10336452" cy="5971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B11. Identify the most preferred and purchased brand type by customer gender.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54284-CAD5-7D99-53B1-C50497BD8AB9}"/>
              </a:ext>
            </a:extLst>
          </p:cNvPr>
          <p:cNvSpPr txBox="1"/>
          <p:nvPr/>
        </p:nvSpPr>
        <p:spPr>
          <a:xfrm>
            <a:off x="1287623" y="5456390"/>
            <a:ext cx="10506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Mass brand orders dominate for both genders.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Premium orders are lower, with males slightly higher than females overall.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A57E0-1F95-6B37-6560-EF86A885F5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65" t="1528" r="3825"/>
          <a:stretch>
            <a:fillRect/>
          </a:stretch>
        </p:blipFill>
        <p:spPr>
          <a:xfrm>
            <a:off x="2267340" y="1293211"/>
            <a:ext cx="6969965" cy="408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7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7B6ED-9D4B-299A-D2B6-EA81D959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7BB3-34FC-C7FA-FE6D-C939C190D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53" y="553246"/>
            <a:ext cx="10336452" cy="5971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B12. Determine which quarters recorded the highest and lowest sales performance.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8B45F-FA09-D559-90EC-0B1E6B20B9E4}"/>
              </a:ext>
            </a:extLst>
          </p:cNvPr>
          <p:cNvSpPr txBox="1"/>
          <p:nvPr/>
        </p:nvSpPr>
        <p:spPr>
          <a:xfrm>
            <a:off x="1296954" y="5575689"/>
            <a:ext cx="10506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Quarterly revenue remains stable around 17–18 crore with minor fluctuations.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 slight peak is seen in mid-2025, showing a modest upward trend overall.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1292B-C92D-B290-90D8-CE56F5D3B7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7" t="1714" r="5340" b="1714"/>
          <a:stretch>
            <a:fillRect/>
          </a:stretch>
        </p:blipFill>
        <p:spPr>
          <a:xfrm>
            <a:off x="2559698" y="1368443"/>
            <a:ext cx="6885991" cy="412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79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96CE7-E279-2F98-A646-64593986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23D1-A0D7-6EC2-74A6-E0E62A69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629" y="354562"/>
            <a:ext cx="9137012" cy="939593"/>
          </a:xfrm>
        </p:spPr>
        <p:txBody>
          <a:bodyPr/>
          <a:lstStyle/>
          <a:p>
            <a:r>
              <a:rPr lang="en-US" dirty="0"/>
              <a:t>c. Final Key Insights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8608E-9D03-F2DC-503E-A18A8ED81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4845" y="1642187"/>
            <a:ext cx="10336453" cy="3925389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Revenue is highly concentrated in specific states and zones.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Seasonal trends (monthly &amp; quarterly) significantly impact sales performance.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Discounts play a major role in driving volume-based sales.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Competition intensity affects category performance and revenue growth.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Sales events and inventory pressure strongly influence revenue spikes.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Gender-based brand preference insights can help in targeted marketing.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Strategic regional and seasonal planning can improve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1434773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0609" y="3127248"/>
            <a:ext cx="6117381" cy="301752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By</a:t>
            </a:r>
          </a:p>
          <a:p>
            <a:r>
              <a:rPr lang="en-US" dirty="0" err="1"/>
              <a:t>M.Abinaya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Galaxy presentation</Template>
  <TotalTime>502</TotalTime>
  <Words>1016</Words>
  <Application>Microsoft Office PowerPoint</Application>
  <PresentationFormat>Widescreen</PresentationFormat>
  <Paragraphs>130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Univers</vt:lpstr>
      <vt:lpstr>Wingdings</vt:lpstr>
      <vt:lpstr>GradientVTI</vt:lpstr>
      <vt:lpstr>Indian Ecommerce Pricing Revenue Growth Data Analysis</vt:lpstr>
      <vt:lpstr>INTRODUCTION</vt:lpstr>
      <vt:lpstr>Dataset Description :</vt:lpstr>
      <vt:lpstr>Dataset Cleaning:</vt:lpstr>
      <vt:lpstr>1.Checking for null values:</vt:lpstr>
      <vt:lpstr>2. Checking the duplicate values :</vt:lpstr>
      <vt:lpstr>3. Standardize the data :</vt:lpstr>
      <vt:lpstr>Exploratory data analysis :</vt:lpstr>
      <vt:lpstr>A. SUMMARY STATISTICS</vt:lpstr>
      <vt:lpstr>b. Analysis visualization </vt:lpstr>
      <vt:lpstr>b1. Calculate the total revenue generated by each state excluding discounts.</vt:lpstr>
      <vt:lpstr>b2. Which states have the highest rate of goods sold?</vt:lpstr>
      <vt:lpstr>B3. Total discount given to each category per quantity</vt:lpstr>
      <vt:lpstr>B4. Find the total discount amount given for each category based on quantity sold.</vt:lpstr>
      <vt:lpstr>B5. Identify the region with the highest revenue contribution by category.</vt:lpstr>
      <vt:lpstr>B6. Analyze which year generated the highest sales during the sales event period.</vt:lpstr>
      <vt:lpstr>B7. Determine which month recorded the highest number of units sold.</vt:lpstr>
      <vt:lpstr>B8. How was the competition intensity among categories?</vt:lpstr>
      <vt:lpstr>B9. Analyze the competition intensity trend over the years.</vt:lpstr>
      <vt:lpstr>B10. Evaluate how inventory pressure affected revenue performance.</vt:lpstr>
      <vt:lpstr>B11. Identify the most preferred and purchased brand type by customer gender.</vt:lpstr>
      <vt:lpstr>B12. Determine which quarters recorded the highest and lowest sales performance.</vt:lpstr>
      <vt:lpstr>c. Final Key Insights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 murugan</dc:creator>
  <cp:lastModifiedBy>abi murugan</cp:lastModifiedBy>
  <cp:revision>4</cp:revision>
  <dcterms:created xsi:type="dcterms:W3CDTF">2026-02-25T05:35:39Z</dcterms:created>
  <dcterms:modified xsi:type="dcterms:W3CDTF">2026-02-26T08:37:05Z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